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8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182B"/>
                </a:solidFill>
                <a:latin typeface="Calibri"/>
              </a:rPr>
              <a:t>התפלגות כללית (n=220)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התפלגות עמדות</c:v>
                </c:pt>
              </c:strCache>
            </c:strRef>
          </c:tx>
          <c:spPr>
            <a:solidFill>
              <a:srgbClr val="E8384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8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תומך</c:v>
                  </c:pt>
                  <c:pt idx="1">
                    <c:v>מתנגד</c:v>
                  </c:pt>
                  <c:pt idx="2">
                    <c:v>מעורב/תלוי</c:v>
                  </c:pt>
                  <c:pt idx="3">
                    <c:v>לא בטוח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29</c:v>
                </c:pt>
                <c:pt idx="2">
                  <c:v>18</c:v>
                </c:pt>
                <c:pt idx="3">
                  <c:v>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418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1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שלום, אני מאי — הנציגה הדיגיטלית של דופק. במצגת הקצרה הזו אני אראה לכם איך אפשר לדעת תוך דקות איך ישראל תגיב למסר, לסלוגן או לקונספט — עוד לפני שהתקציב יוצא לדרך.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רוב הסוכנויות והחברות פשוט לא בודקות את המסר שלהן לפני השקה. סקר אמיתי לוקח שבועות, מחקר שוק מוסמך עולה עשרות אלפי שקלים, וקל לפספס איך מגזר שלם — חרדי, ערבי, מסורתי — יגיב למסר שנוסח בחדר הומוגני. אז ההחלטה מתקבלת על בסיס אינטואיציה בלבד. וזה מסוכן.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דופק הוא פאנל דעת קהל סינתטי: מריצים שאלה מול 220 פרופילים מגוונים של ישראלים — כולל מגזרים שרוב כלי המחקר הרגילים מפספסים — ומקבלים תמונת מצב תוך דקות, עם גילוי נאות מלא שזו סימולציה ולא סקר רשמי.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התהליך פשוט: שולחים שאלה בשפה חופשית, 220 הפרופילים עונים במקביל, ותוך דקות מתקבל דוח מוכן להצגה — בלי צורך בתיאום או המתנה.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כך נראה דוח בפועל: התפלגות עמדות כללית, פילוח לפי מגזר, ונטייה פוליטית וגיל, וציטוטים מייצגים מכמה נקודות מבט שונות — הכל בעמוד אחד ברור.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הקהל העיקרי: סוכנויות פרסום ושיווק, צוותי מוצר וסטארטאפים, יועצי תקשורת ו-PR, ובוטיקי מחקר שוק שרוצים להוסיף שירות מהיר וזול ללקוחותיהם.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שלוש רמות תמחור: דוח חד-פעמי ב-2,000 שקל להתנסות ראשונה, מנוי סוכנות ב-6,000 שקל לחודש עם 6 הרצות, ו-Enterprise עם מיתוג עצמי ב-15,000 שקל לחודש. קרדיט אחד תמיד שווה להרצה מלאה אחת של הפאנל.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תמהיל לדוגמה שמגיע ל-78,000 שקל בחודש: שישה לקוחות במנוי סוכנות בשישה אלף שקל, שני לקוחות אנטרפרייז בחמישה עשר אלף שקל, וכשישה דוחות חד פעמיים בחודש. זה תמהיל אחד לדוגמה, לא היחיד שמגיע ליעד — אבל הוא ריאלי עם מספר לקוחות קטן יחסית.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תוכנית 90 היום הראשונים: חודש ראשון להוכחת קונספט עם דמו חינמי, חודש שני להכנת חומר שיווקי מבוסס מקרים אמיתיים, וחודש שלישי למכירה ממוקדת. היעד: 4 עד 6 לקוחות משלמים ראשונים כאימות שהמודל עובד.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שקיפות היא חלק מהמוצר, לא רק הערת שוליים: דופק הוא כלי סימולציה מבוסס AI, לא סקר רשמי. אנחנו אומרים את זה בכל דוח ובכל חוזה, ולא ממליצים להשתמש בו ככלי יחיד לקמפיינים פוליטיים בפועל.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תודה שהקשבתם. מוכנים לבדוק את הדופק של הקהל שלכם? כתבו לנו ל-hello@dofek.co.il ונתחיל עם שלוש שאלות ניסיון ראשונות, בחינם וללא התחייבות.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A2038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754880"/>
            <a:ext cx="4937760" cy="4937760"/>
          </a:xfrm>
          <a:prstGeom prst="ellipse">
            <a:avLst/>
          </a:prstGeom>
          <a:solidFill>
            <a:srgbClr val="1A203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B2B לבדיקת מסרים וקונספטים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דופק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6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דעו איך ישראל תגיב — לפני שאתם משיקים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D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פאנל דעת קהל סינתטי מבוסס AI, של 220 פרופילים מגוונים של ישראלים — דוח תוך דקות, לא שבועות.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006840" y="1371600"/>
            <a:ext cx="1920240" cy="1920240"/>
          </a:xfrm>
          <a:prstGeom prst="ellipse">
            <a:avLst/>
          </a:prstGeom>
          <a:solidFill>
            <a:srgbClr val="1C2138"/>
          </a:solidFill>
          <a:ln w="28575">
            <a:solidFill>
              <a:srgbClr val="E8384E"/>
            </a:solidFill>
            <a:prstDash val="solid"/>
          </a:ln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71686" y="1736446"/>
            <a:ext cx="1190549" cy="1190549"/>
          </a:xfrm>
          <a:prstGeom prst="ellipse">
            <a:avLst/>
          </a:prstGeom>
          <a:ln w="12700">
            <a:solidFill>
              <a:srgbClr val="E8384E"/>
            </a:solidFill>
            <a:prstDash val="sysDot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0519" y="2005279"/>
            <a:ext cx="652882" cy="6528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00684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מאי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49640" y="3886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D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הנציגה הדיגיטלית של דופק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2960" y="6172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E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מכירה · מוכנה להפקה כווידאו עם אווטאר AI (ראו הערות דובר)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 שוק אמיתי לוקח שבועות.</a:t>
            </a:r>
            <a:endParaRPr lang="en-US" sz="3000" dirty="0"/>
          </a:p>
          <a:p>
            <a:pPr algn="r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הקמפיין לא יכול לחכות.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788920"/>
            <a:ext cx="914400" cy="914400"/>
          </a:xfrm>
          <a:prstGeom prst="ellipse">
            <a:avLst/>
          </a:prstGeom>
          <a:solidFill>
            <a:srgbClr val="F3F4EE"/>
          </a:solidFill>
          <a:ln w="15875">
            <a:solidFill>
              <a:srgbClr val="DE8A1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0824" y="2912364"/>
            <a:ext cx="667512" cy="6675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84048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שבועות של המתנה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429768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תיאום, גיוס משתתפים וניתוח לוקחים זמן — התקציב מחכה בינתיים.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42316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6420" y="2788920"/>
            <a:ext cx="914400" cy="914400"/>
          </a:xfrm>
          <a:prstGeom prst="ellipse">
            <a:avLst/>
          </a:prstGeom>
          <a:solidFill>
            <a:srgbClr val="F3F4EE"/>
          </a:solidFill>
          <a:ln w="15875">
            <a:solidFill>
              <a:srgbClr val="3E7A5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64" y="2912364"/>
            <a:ext cx="667512" cy="6675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384048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תקציב שלא תמיד מוצדק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81728" y="429768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 שוק מוסמך עשוי לעלות עשרות אלפי שקלים — הרבה מעבר לבדיקת אינטואיציה.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42316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95460" y="2788920"/>
            <a:ext cx="914400" cy="914400"/>
          </a:xfrm>
          <a:prstGeom prst="ellipse">
            <a:avLst/>
          </a:prstGeom>
          <a:solidFill>
            <a:srgbClr val="F3F4EE"/>
          </a:solidFill>
          <a:ln w="15875">
            <a:solidFill>
              <a:srgbClr val="E8384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4" y="2912364"/>
            <a:ext cx="667512" cy="6675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384048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עיוורון לקהלים שלא בחדר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30768" y="4297680"/>
            <a:ext cx="2843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 לפספס איך מגזר שלם יגיב למסר שנוסח בחדר הומוגני.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דופק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הפתרון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פאנל דעת קהל סינתטי, זמין תמיד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דופק מריץ את השאלה שלכם מול 220 פרופילים סינתטיים מגוונים של ישראלים — כל אחד עם רקע, מגזר, נטייה פוליטית, עיסוק ומצב משפחתי משלו — ומצרף את התשובות לתמונת מצב אחת ברורה.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566928" cy="566928"/>
          </a:xfrm>
          <a:prstGeom prst="ellipse">
            <a:avLst/>
          </a:prstGeom>
          <a:solidFill>
            <a:srgbClr val="F3F4EE"/>
          </a:solidFill>
          <a:ln w="15875">
            <a:solidFill>
              <a:srgbClr val="E8384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615" y="2956895"/>
            <a:ext cx="413857" cy="4138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8620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כיסוי מגזרי אמיתי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31821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חילונים, דתיים-לאומיים, חרדים (ליטאים/חסידים/ספרדים), ערבים, דרוזים ובדואים.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776472"/>
            <a:ext cx="566928" cy="566928"/>
          </a:xfrm>
          <a:prstGeom prst="ellipse">
            <a:avLst/>
          </a:prstGeom>
          <a:solidFill>
            <a:srgbClr val="F3F4EE"/>
          </a:solidFill>
          <a:ln w="15875">
            <a:solidFill>
              <a:srgbClr val="DE8A1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15" y="3853007"/>
            <a:ext cx="413857" cy="4138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75818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מהירות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17320" y="407822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דוח מוכן תוך דקות מרגע שליחת השאלה.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672584"/>
            <a:ext cx="566928" cy="566928"/>
          </a:xfrm>
          <a:prstGeom prst="ellipse">
            <a:avLst/>
          </a:prstGeom>
          <a:solidFill>
            <a:srgbClr val="F3F4EE"/>
          </a:solidFill>
          <a:ln w="15875">
            <a:solidFill>
              <a:srgbClr val="3E7A5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15" y="4749119"/>
            <a:ext cx="413857" cy="41385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6542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שקיפות מלאה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17320" y="497433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דוח כולל גילוי נאות: זו סימולציה, לא סקר רשמי.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452360" y="1600200"/>
            <a:ext cx="4069080" cy="4160520"/>
          </a:xfrm>
          <a:prstGeom prst="roundRect">
            <a:avLst>
              <a:gd name="adj" fmla="val 3146"/>
            </a:avLst>
          </a:prstGeom>
          <a:solidFill>
            <a:srgbClr val="14182B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726680" y="19659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5400" dirty="0"/>
          </a:p>
        </p:txBody>
      </p:sp>
      <p:sp>
        <p:nvSpPr>
          <p:cNvPr id="19" name="Text 14"/>
          <p:cNvSpPr/>
          <p:nvPr/>
        </p:nvSpPr>
        <p:spPr>
          <a:xfrm>
            <a:off x="7726680" y="2788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6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פרופילים סינתטיים מגוונים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818120" y="3429000"/>
            <a:ext cx="1124712" cy="365760"/>
          </a:xfrm>
          <a:prstGeom prst="roundRect">
            <a:avLst>
              <a:gd name="adj" fmla="val 50000"/>
            </a:avLst>
          </a:prstGeom>
          <a:solidFill>
            <a:srgbClr val="1C2138"/>
          </a:solidFill>
          <a:ln w="9525">
            <a:solidFill>
              <a:srgbClr val="343B5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818120" y="342900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חילוני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70848" y="3429000"/>
            <a:ext cx="1124712" cy="365760"/>
          </a:xfrm>
          <a:prstGeom prst="roundRect">
            <a:avLst>
              <a:gd name="adj" fmla="val 50000"/>
            </a:avLst>
          </a:prstGeom>
          <a:solidFill>
            <a:srgbClr val="1C2138"/>
          </a:solidFill>
          <a:ln w="9525">
            <a:solidFill>
              <a:srgbClr val="343B5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070848" y="342900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מסורתי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818120" y="3922776"/>
            <a:ext cx="1495044" cy="365760"/>
          </a:xfrm>
          <a:prstGeom prst="roundRect">
            <a:avLst>
              <a:gd name="adj" fmla="val 50000"/>
            </a:avLst>
          </a:prstGeom>
          <a:solidFill>
            <a:srgbClr val="1C2138"/>
          </a:solidFill>
          <a:ln w="9525">
            <a:solidFill>
              <a:srgbClr val="343B5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818120" y="3922776"/>
            <a:ext cx="14950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דתי-לאומי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441180" y="3922776"/>
            <a:ext cx="877824" cy="365760"/>
          </a:xfrm>
          <a:prstGeom prst="roundRect">
            <a:avLst>
              <a:gd name="adj" fmla="val 50000"/>
            </a:avLst>
          </a:prstGeom>
          <a:solidFill>
            <a:srgbClr val="1C2138"/>
          </a:solidFill>
          <a:ln w="9525">
            <a:solidFill>
              <a:srgbClr val="343B5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441180" y="3922776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חרדי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818120" y="4416552"/>
            <a:ext cx="877824" cy="365760"/>
          </a:xfrm>
          <a:prstGeom prst="roundRect">
            <a:avLst>
              <a:gd name="adj" fmla="val 50000"/>
            </a:avLst>
          </a:prstGeom>
          <a:solidFill>
            <a:srgbClr val="1C2138"/>
          </a:solidFill>
          <a:ln w="9525">
            <a:solidFill>
              <a:srgbClr val="343B5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818120" y="4416552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ערבי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8823960" y="4416552"/>
            <a:ext cx="1001268" cy="365760"/>
          </a:xfrm>
          <a:prstGeom prst="roundRect">
            <a:avLst>
              <a:gd name="adj" fmla="val 50000"/>
            </a:avLst>
          </a:prstGeom>
          <a:solidFill>
            <a:srgbClr val="1C2138"/>
          </a:solidFill>
          <a:ln w="9525">
            <a:solidFill>
              <a:srgbClr val="343B5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823960" y="4416552"/>
            <a:ext cx="1001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דרוזי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9953244" y="4416552"/>
            <a:ext cx="1001268" cy="365760"/>
          </a:xfrm>
          <a:prstGeom prst="roundRect">
            <a:avLst>
              <a:gd name="adj" fmla="val 50000"/>
            </a:avLst>
          </a:prstGeom>
          <a:solidFill>
            <a:srgbClr val="1C2138"/>
          </a:solidFill>
          <a:ln w="9525">
            <a:solidFill>
              <a:srgbClr val="343B5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953244" y="4416552"/>
            <a:ext cx="10012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בדואי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דופק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זה עובד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שלושה שלבים, דקות ספורות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520440"/>
          </a:xfrm>
          <a:prstGeom prst="roundRect">
            <a:avLst>
              <a:gd name="adj" fmla="val 3733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219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שולחים שאלה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בשפה חופשית — בדיוק כמו ששואלים בן אדם. “האם כדאי להשיק במחיר פרימיום או נגיש?”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0228" y="33832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429000" cy="3520440"/>
          </a:xfrm>
          <a:prstGeom prst="roundRect">
            <a:avLst>
              <a:gd name="adj" fmla="val 3733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22219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6344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הפאנל עונה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33756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פרופילים מגיבים במקביל, כל אחד מנקודת המבט של הרקע והערכים שלו.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59268" y="33832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429000" cy="3520440"/>
          </a:xfrm>
          <a:prstGeom prst="roundRect">
            <a:avLst>
              <a:gd name="adj" fmla="val 3733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22219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1248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מקבלים דוח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התפלגות עמדות, פילוח לפי מגזר/פוליטיקה/גיל, וציטוטים מייצגים.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דוגמה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כך נראה דוח דופק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“האם כדאי להשיק את המוצר במחיר פרימיום או נגיש?”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57400"/>
          <a:ext cx="61264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2057400"/>
            <a:ext cx="4480560" cy="3794760"/>
          </a:xfrm>
          <a:prstGeom prst="roundRect">
            <a:avLst>
              <a:gd name="adj" fmla="val 3373"/>
            </a:avLst>
          </a:prstGeom>
          <a:solidFill>
            <a:srgbClr val="14182B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פילוח לפי מגזר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C6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חילוני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23544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תומך 61%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0" y="3081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C6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דתי-לאומי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235440" y="3081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מעורב 44%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0" y="34655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C6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חרדי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235440" y="34655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מתנגד 58%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315200" y="38496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C6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ערבי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235440" y="38496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תומך 39%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15200" y="4279392"/>
            <a:ext cx="3931920" cy="0"/>
          </a:xfrm>
          <a:prstGeom prst="line">
            <a:avLst/>
          </a:prstGeom>
          <a:noFill/>
          <a:ln w="9525">
            <a:solidFill>
              <a:srgbClr val="343B5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44622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“אם המחיר מרגיש נגיש, אני אמליץ עליו לחברים. פרימיום צריך להרגיש שווה את זה.”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0" y="5330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D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נועה, 29, חילונית, תל אביב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נתוני הדגמה, לצורך המחשה של פורמט הדוח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דופק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קהל יעד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למי דופק הכי שימושי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737360"/>
          </a:xfrm>
          <a:prstGeom prst="roundRect">
            <a:avLst>
              <a:gd name="adj" fmla="val 7368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23160"/>
            <a:ext cx="731520" cy="731520"/>
          </a:xfrm>
          <a:prstGeom prst="ellipse">
            <a:avLst/>
          </a:prstGeom>
          <a:solidFill>
            <a:srgbClr val="F3F4EE"/>
          </a:solidFill>
          <a:ln w="15875">
            <a:solidFill>
              <a:srgbClr val="E8384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521915"/>
            <a:ext cx="534010" cy="5340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128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סוכנויות פרסום ושיווק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874520" y="267004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בדיקת קונספט קריאייטיב וסלוגן לפני הצגה ללקוח.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257800" cy="1737360"/>
          </a:xfrm>
          <a:prstGeom prst="roundRect">
            <a:avLst>
              <a:gd name="adj" fmla="val 7368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423160"/>
            <a:ext cx="731520" cy="731520"/>
          </a:xfrm>
          <a:prstGeom prst="ellipse">
            <a:avLst/>
          </a:prstGeom>
          <a:solidFill>
            <a:srgbClr val="F3F4EE"/>
          </a:solidFill>
          <a:ln w="15875">
            <a:solidFill>
              <a:srgbClr val="DE8A1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15" y="2521915"/>
            <a:ext cx="534010" cy="5340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2128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צוותי מוצר וסטארטאפים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498080" y="267004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בדיקת מיצוב, שם מוצר ורגישות תמחור.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57800" cy="1737360"/>
          </a:xfrm>
          <a:prstGeom prst="roundRect">
            <a:avLst>
              <a:gd name="adj" fmla="val 7368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434840"/>
            <a:ext cx="731520" cy="731520"/>
          </a:xfrm>
          <a:prstGeom prst="ellipse">
            <a:avLst/>
          </a:prstGeom>
          <a:solidFill>
            <a:srgbClr val="F3F4EE"/>
          </a:solidFill>
          <a:ln w="15875">
            <a:solidFill>
              <a:srgbClr val="3E7A5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4533595"/>
            <a:ext cx="534010" cy="5340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2245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יועצי תקשורת ו-PR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874520" y="46817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בדיקת ניסוח הודעה רגישה לפני פרסום או תגובה במשבר.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257800" cy="1737360"/>
          </a:xfrm>
          <a:prstGeom prst="roundRect">
            <a:avLst>
              <a:gd name="adj" fmla="val 7368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434840"/>
            <a:ext cx="731520" cy="731520"/>
          </a:xfrm>
          <a:prstGeom prst="ellipse">
            <a:avLst/>
          </a:prstGeom>
          <a:solidFill>
            <a:srgbClr val="F3F4EE"/>
          </a:solidFill>
          <a:ln w="15875">
            <a:solidFill>
              <a:srgbClr val="E8384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715" y="4533595"/>
            <a:ext cx="534010" cy="5340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2245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בוטיקי מחקר שוק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98080" y="46817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הרחבת השירות ללקוחות קיימים, במיתוג עצמי (white-label).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דופק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עסקי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תמחור: קרדיט אחד = הרצה מלאה אחת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3977640"/>
          </a:xfrm>
          <a:prstGeom prst="roundRect">
            <a:avLst>
              <a:gd name="adj" fmla="val 3636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219456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דוח חד-פעמי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256032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₪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32688" y="3172968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הרצה אחת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365760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הרצה מלאה (עד 220 פרופילים)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4133088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דוח HTML מוכן להצגה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4608576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מתאים לניסיון ראשון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1874520"/>
            <a:ext cx="3520440" cy="3977640"/>
          </a:xfrm>
          <a:prstGeom prst="roundRect">
            <a:avLst>
              <a:gd name="adj" fmla="val 3636"/>
            </a:avLst>
          </a:prstGeom>
          <a:solidFill>
            <a:srgbClr val="14182B"/>
          </a:solidFill>
          <a:ln w="19050">
            <a:solidFill>
              <a:srgbClr val="E8384E"/>
            </a:solidFill>
            <a:prstDash val="solid"/>
          </a:ln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36108" y="167335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8384E"/>
          </a:solidFill>
          <a:ln/>
        </p:spPr>
      </p:sp>
      <p:sp>
        <p:nvSpPr>
          <p:cNvPr id="13" name="Text 11"/>
          <p:cNvSpPr/>
          <p:nvPr/>
        </p:nvSpPr>
        <p:spPr>
          <a:xfrm>
            <a:off x="5436108" y="1673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הכי נפוץ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45736" y="219456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מנוי סוכנות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45736" y="256032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₪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45736" y="3172968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6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לחודש · 6 הרצות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45736" y="365760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הרצות בחודש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45736" y="4133088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דוח ממותג לכל הרצה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45736" y="4608576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שימוש שוטף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66176" y="1874520"/>
            <a:ext cx="3520440" cy="3977640"/>
          </a:xfrm>
          <a:prstGeom prst="roundRect">
            <a:avLst>
              <a:gd name="adj" fmla="val 3636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58784" y="219456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White-label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58784" y="256032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₪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558784" y="3172968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לחודש · 20 הרצות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58784" y="365760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20 הרצות בחודש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58784" y="4133088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דוחות במיתוג שלכם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58784" y="4608576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גישת API ישירה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דופק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תחזית הכנסות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מ-6 לקוחות ל-78,000 ₪ בחודש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× מנוי סוכנות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36,000 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50008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1C213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50008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E8384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Enterprise / White-label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₪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18688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1C2138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18688"/>
            <a:ext cx="3333584" cy="201168"/>
          </a:xfrm>
          <a:prstGeom prst="roundRect">
            <a:avLst>
              <a:gd name="adj" fmla="val 50000"/>
            </a:avLst>
          </a:prstGeom>
          <a:solidFill>
            <a:srgbClr val="DE8A1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6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× דוח חד-פעמי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₪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87368"/>
            <a:ext cx="3931920" cy="201168"/>
          </a:xfrm>
          <a:prstGeom prst="roundRect">
            <a:avLst>
              <a:gd name="adj" fmla="val 50000"/>
            </a:avLst>
          </a:prstGeom>
          <a:solidFill>
            <a:srgbClr val="1C213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087368"/>
            <a:ext cx="1282148" cy="201168"/>
          </a:xfrm>
          <a:prstGeom prst="roundRect">
            <a:avLst>
              <a:gd name="adj" fmla="val 50000"/>
            </a:avLst>
          </a:prstGeom>
          <a:solidFill>
            <a:srgbClr val="3E7A5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709160"/>
            <a:ext cx="3931920" cy="914400"/>
          </a:xfrm>
          <a:prstGeom prst="roundRect">
            <a:avLst>
              <a:gd name="adj" fmla="val 14000"/>
            </a:avLst>
          </a:prstGeom>
          <a:solidFill>
            <a:srgbClr val="1C2138"/>
          </a:solidFill>
          <a:ln w="12700">
            <a:solidFill>
              <a:srgbClr val="E838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6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סה"כ חודשי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~78,000 ₪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212080" y="1965960"/>
            <a:ext cx="6309360" cy="4160520"/>
          </a:xfrm>
          <a:prstGeom prst="roundRect">
            <a:avLst>
              <a:gd name="adj" fmla="val 3077"/>
            </a:avLst>
          </a:prstGeom>
          <a:solidFill>
            <a:srgbClr val="1C2138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2240280"/>
            <a:ext cx="685800" cy="685800"/>
          </a:xfrm>
          <a:prstGeom prst="ellipse">
            <a:avLst/>
          </a:prstGeom>
          <a:solidFill>
            <a:srgbClr val="1C2138"/>
          </a:solidFill>
          <a:ln w="15875">
            <a:solidFill>
              <a:srgbClr val="3E7A5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8983" y="2332863"/>
            <a:ext cx="500634" cy="50063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30936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מנוע הצמיחה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532120" y="288036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6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הרצה שמדורגת כמוצלחת ע"י לקוח “דוח חד-פעמי” היא מועמדת טבעית להמרה למנוי סוכנות. Enterprise / white-label הוא המנוע המשמעותי ביותר להכנסה — לכן שווה להשקיע זמן מכירה ממוקד ב-3‑5 בוטיקי מחקר וסוכנויות גדולות, לצד גיוס רחב יותר של לקוחות דוח חד-פעמי כערוץ upsell.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532120" y="5394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תמהיל לדוגמה אחד מתוך כמה שמגיעים ליעד — לא תחזית מובטחת.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דופק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כניסה לשוק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יום ראשונים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60220" y="19202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4182B"/>
          </a:solidFill>
          <a:ln/>
        </p:spPr>
      </p:sp>
      <p:sp>
        <p:nvSpPr>
          <p:cNvPr id="6" name="Text 4"/>
          <p:cNvSpPr/>
          <p:nvPr/>
        </p:nvSpPr>
        <p:spPr>
          <a:xfrm>
            <a:off x="1760220" y="1920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הוכחת קונספט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שאלות ניסיון בחינם ל-10‑15 סוכנויות וצוותי מוצר מוכרים, בתמורה למשוב.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09260" y="19202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4182B"/>
          </a:solidFill>
          <a:ln/>
        </p:spPr>
      </p:sp>
      <p:sp>
        <p:nvSpPr>
          <p:cNvPr id="11" name="Text 9"/>
          <p:cNvSpPr/>
          <p:nvPr/>
        </p:nvSpPr>
        <p:spPr>
          <a:xfrm>
            <a:off x="5509260" y="1920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5146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חומר שיווקי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97180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1‑2 case studies אמיתיים (בהסכמת לקוח) שמראים דוח בפועל ואת הפער בין מגזרים.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14884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258300" y="19202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4182B"/>
          </a:solidFill>
          <a:ln/>
        </p:spPr>
      </p:sp>
      <p:sp>
        <p:nvSpPr>
          <p:cNvPr id="16" name="Text 14"/>
          <p:cNvSpPr/>
          <p:nvPr/>
        </p:nvSpPr>
        <p:spPr>
          <a:xfrm>
            <a:off x="9258300" y="1920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25146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מכירה ממוקדת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297180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פנייה ישירה למתכנני אסטרטגיה בסוכנויות, ולבוטיקי מחקר שוק לשיתופי פעולה.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יעד ל-90 יום: 4‑6 לקוחות משלמים ראשונים.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דופק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E8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אמינות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חשוב לדעת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3566160"/>
          </a:xfrm>
          <a:prstGeom prst="roundRect">
            <a:avLst>
              <a:gd name="adj" fmla="val 3590"/>
            </a:avLst>
          </a:prstGeom>
          <a:solidFill>
            <a:srgbClr val="F3F4EE"/>
          </a:solidFill>
          <a:ln/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66960" y="2194560"/>
            <a:ext cx="1005840" cy="1005840"/>
          </a:xfrm>
          <a:prstGeom prst="ellipse">
            <a:avLst/>
          </a:prstGeom>
          <a:solidFill>
            <a:srgbClr val="F3F4EE"/>
          </a:solidFill>
          <a:ln w="15875">
            <a:solidFill>
              <a:srgbClr val="DE8A1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2748" y="2330348"/>
            <a:ext cx="734263" cy="7342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1488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דופק מבוסס על סימולציית בינה מלאכותית של פרופילים מגוונים — זה לא סקר דעת קהל רשמי ולא מדגם אקראי מייצג סטטיסטית.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3063240"/>
            <a:ext cx="8503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זהו כלי לגיבוש אינטואיציה מהירה לפני החלטה — לא תחליף למחקר שוק מוסמך, לסקר דעת קהל, או לייעוץ משפטי/רגולטורי. כל דוח שיוצא מהמערכת כולל את ההבהרה הזו במפורש, וכך גם כל חוזה לקוח.</a:t>
            </a:r>
            <a:endParaRPr lang="en-US" sz="1250" dirty="0"/>
          </a:p>
          <a:p>
            <a:pPr algn="r" indent="0" marL="0">
              <a:lnSpc>
                <a:spcPct val="140000"/>
              </a:lnSpc>
              <a:buNone/>
            </a:pPr>
            <a:endParaRPr lang="en-US" sz="1250" dirty="0"/>
          </a:p>
          <a:p>
            <a:pPr algn="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מתאים כתחליף לסקר פוליטי רשמי או ככלי לקמפיינים פוליטיים בפועל.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דופק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943600" cy="5943600"/>
          </a:xfrm>
          <a:prstGeom prst="ellipse">
            <a:avLst/>
          </a:prstGeom>
          <a:solidFill>
            <a:srgbClr val="1A2038"/>
          </a:solidFill>
          <a:ln/>
        </p:spPr>
      </p:sp>
      <p:sp>
        <p:nvSpPr>
          <p:cNvPr id="3" name="Shape 1"/>
          <p:cNvSpPr/>
          <p:nvPr/>
        </p:nvSpPr>
        <p:spPr>
          <a:xfrm>
            <a:off x="1508760" y="1874520"/>
            <a:ext cx="2468880" cy="2468880"/>
          </a:xfrm>
          <a:prstGeom prst="ellipse">
            <a:avLst/>
          </a:prstGeom>
          <a:solidFill>
            <a:srgbClr val="1C2138"/>
          </a:solidFill>
          <a:ln w="28575">
            <a:solidFill>
              <a:srgbClr val="E8384E"/>
            </a:solidFill>
            <a:prstDash val="solid"/>
          </a:ln>
          <a:effectLst>
            <a:outerShdw sx="100000" sy="100000" kx="0" ky="0" algn="bl" rotWithShape="0" blurRad="127000" dist="38100" dir="5400000">
              <a:srgbClr val="0B0D1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77847" y="2343607"/>
            <a:ext cx="1530706" cy="1530706"/>
          </a:xfrm>
          <a:prstGeom prst="ellipse">
            <a:avLst/>
          </a:prstGeom>
          <a:ln w="12700">
            <a:solidFill>
              <a:srgbClr val="E8384E"/>
            </a:solidFill>
            <a:prstDash val="sysDot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3490" y="2689250"/>
            <a:ext cx="839419" cy="8394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מאי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4937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הנציגה הדיגיטלית של דופק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120640" y="1965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מוכנים לבדוק את הדופק?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120640" y="2697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6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שאלות ניסיון ראשונות — בחינם, בלי התחייבות.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120640" y="3429000"/>
            <a:ext cx="548640" cy="548640"/>
          </a:xfrm>
          <a:prstGeom prst="ellipse">
            <a:avLst/>
          </a:prstGeom>
          <a:solidFill>
            <a:srgbClr val="1C2138"/>
          </a:solidFill>
          <a:ln w="15875">
            <a:solidFill>
              <a:srgbClr val="E8384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706" y="3503066"/>
            <a:ext cx="400507" cy="4005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3474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hello@dofek.co.il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120640" y="42976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7D8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הערה טכנית: כדי להפוך את המצגת הזו לווידאו עם אווטאר AI מדבר — יש להעתיק את הטקסט מהערות הדובר (Speaker Notes) של כל שקופית לכלי כמו HeyGen / Synthesia / Colossyan, לבחור אווטאר ולהפיק את הסרטון.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דופק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2026-07-28T03:54:46Z</dcterms:created>
  <dcterms:modified xsi:type="dcterms:W3CDTF">2026-07-28T03:54:46Z</dcterms:modified>
</cp:coreProperties>
</file>